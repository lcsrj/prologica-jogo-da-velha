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430"/>
                </a:solidFill>
              </a:rPr>
              <a:t>Jogo da Velha em Prolog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13232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EFF"/>
                </a:solidFill>
              </a:rPr>
              <a:t>Projeto de Programação Lógica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" y="22860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</a:rPr>
              <a:t>Jogo interativo: usuário joga como X e a CPU joga como 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303580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97180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Domínio modelado por fatos e regras.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349300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342900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Consultas demonstram inferência lógica.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395020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886200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Uso de variáveis, unificação e backtracking.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77240" y="440740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4343400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CPU decide jogadas por regras de prioridade.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2697480" cy="2697480"/>
          </a:xfrm>
          <a:prstGeom prst="rect">
            <a:avLst/>
          </a:prstGeom>
          <a:solidFill>
            <a:srgbClr val="FFFFFF"/>
          </a:solidFill>
          <a:ln w="17780">
            <a:solidFill>
              <a:srgbClr val="5B2E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760" y="1417320"/>
            <a:ext cx="0" cy="269748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316480"/>
            <a:ext cx="269748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27920" y="1417320"/>
            <a:ext cx="0" cy="269748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215640"/>
            <a:ext cx="269748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435608"/>
            <a:ext cx="89916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28760" y="1435608"/>
            <a:ext cx="89916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2334768"/>
            <a:ext cx="89916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28760" y="2334768"/>
            <a:ext cx="89916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o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77240" y="5074920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252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Fatos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83080" y="5074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51252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Regras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80360" y="5074920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51252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Inferência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Jogo da Velha em Prolog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</a:rPr>
              <a:t>Modelagem do jogo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05840" cy="50292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</a:rPr>
              <a:t>O tabuleiro é representado como conhecimento lógico.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572000" cy="2743200"/>
          </a:xfrm>
          <a:prstGeom prst="roundRect">
            <a:avLst>
              <a:gd name="adj" fmla="val 1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36192"/>
            <a:ext cx="4279392" cy="2505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:- dynamic posicao/3.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jogador(x).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jogador(o).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posicao(Linha, Coluna, Jogador).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0" y="157276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16168" y="150876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jogador/1 define os símbolos válidos: x e 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715000" y="207568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16168" y="201168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posicao/3 representa cada jogada no tabuleiro.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715000" y="257860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6168" y="251460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Linha e Coluna indicam a casa escolhida.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715000" y="308152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301752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Jogador indica quem ocupou a casa.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623560" y="3794760"/>
            <a:ext cx="5166360" cy="594360"/>
          </a:xfrm>
          <a:prstGeom prst="roundRect">
            <a:avLst>
              <a:gd name="adj" fmla="val 4615"/>
            </a:avLst>
          </a:prstGeom>
          <a:solidFill>
            <a:srgbClr val="F6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3913632"/>
            <a:ext cx="487375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</a:rPr>
              <a:t>Exemplo: posicao(1,1,x) significa que X marcou a linha 1 e coluna 1.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0" y="4617720"/>
            <a:ext cx="1417320" cy="1417320"/>
          </a:xfrm>
          <a:prstGeom prst="rect">
            <a:avLst/>
          </a:prstGeom>
          <a:solidFill>
            <a:srgbClr val="FFFFFF"/>
          </a:solidFill>
          <a:ln w="17780">
            <a:solidFill>
              <a:srgbClr val="5B2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7640" y="4617720"/>
            <a:ext cx="0" cy="141732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5090160"/>
            <a:ext cx="141732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0080" y="4617720"/>
            <a:ext cx="0" cy="141732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5562600"/>
            <a:ext cx="141732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4636008"/>
            <a:ext cx="4724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" y="4800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</a:rPr>
              <a:t>A modelagem não desenha o jogo por comandos: ela declara fatos sobre o estado atual do tabuleiro.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Jogo da Velha em Prolog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</a:rPr>
              <a:t>Como a jogada é registrada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05840" cy="50292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</a:rPr>
              <a:t>O usuário informa linha e coluna; o Prolog valida e grava a jogada.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532120" cy="3566160"/>
          </a:xfrm>
          <a:prstGeom prst="roundRect">
            <a:avLst>
              <a:gd name="adj" fmla="val 76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536192"/>
            <a:ext cx="5239512" cy="3328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jogada_valida(Linha, Coluna) :-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between(1, 3, Linha),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between(1, 3, Coluna),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\+ posicao(Linha, Coluna, _).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assertz(posicao(Linha, Coluna, x)).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583680" y="166420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84848" y="160020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between/3 garante que a posição está entre 1 e 3.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0" y="216712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210312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\+ posicao(...) verifica se a casa ainda está livre.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83680" y="267004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260604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assertz/1 adiciona a jogada como novo fato.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583680" y="317296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310896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Como posicao/3 é dynamic, o tabuleiro muda durante a partida.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629400" y="3703320"/>
            <a:ext cx="3383280" cy="749808"/>
          </a:xfrm>
          <a:prstGeom prst="roundRect">
            <a:avLst>
              <a:gd name="adj" fmla="val 3659"/>
            </a:avLst>
          </a:prstGeom>
          <a:solidFill>
            <a:srgbClr val="F6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3822192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430"/>
                </a:solidFill>
              </a:rPr>
              <a:t>Entrada correta no jogo: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F2430"/>
                </a:solidFill>
              </a:rPr>
              <a:t>Linha: 1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F2430"/>
                </a:solidFill>
              </a:rPr>
              <a:t>Coluna: 2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5440680" y="5394960"/>
            <a:ext cx="914400" cy="0"/>
          </a:xfrm>
          <a:prstGeom prst="line">
            <a:avLst/>
          </a:prstGeom>
          <a:noFill/>
          <a:ln w="30480">
            <a:solidFill>
              <a:srgbClr val="5B2E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12280" y="4892040"/>
            <a:ext cx="114300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5B2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3280" y="4892040"/>
            <a:ext cx="0" cy="114300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5273040"/>
            <a:ext cx="114300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74280" y="4892040"/>
            <a:ext cx="0" cy="114300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5654040"/>
            <a:ext cx="114300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3280" y="4910328"/>
            <a:ext cx="381000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292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Jogo da Velha em Prolog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</a:rPr>
              <a:t>Como o vencedor é descoberto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05840" cy="50292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</a:rPr>
              <a:t>O Prolog procura linha, coluna ou diagonal com três posições do mesmo jogador.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49240" cy="2423160"/>
          </a:xfrm>
          <a:prstGeom prst="roundRect">
            <a:avLst>
              <a:gd name="adj" fmla="val 113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536192"/>
            <a:ext cx="5056632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vencedor(Jogador) :-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jogador(Jogador),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posicao(Linha, 1, Jogador),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posicao(Linha, 2, Jogador),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posicao(Linha, 3, Jogador).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48132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41732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A variável Jogador pode unificar com x ou 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0" y="198424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92024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A variável Linha permite testar as linhas 1, 2 e 3.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0" y="248716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242316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Se os três fatos existem, a regra vencedor/1 é verdadeira.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0" y="299008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92608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O mesmo padrão é usado para colunas e diagonais.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097280" y="4251960"/>
            <a:ext cx="1645920" cy="1645920"/>
          </a:xfrm>
          <a:prstGeom prst="rect">
            <a:avLst/>
          </a:prstGeom>
          <a:solidFill>
            <a:srgbClr val="FFFFFF"/>
          </a:solidFill>
          <a:ln w="17780">
            <a:solidFill>
              <a:srgbClr val="5B2E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4251960"/>
            <a:ext cx="0" cy="164592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800600"/>
            <a:ext cx="164592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4251960"/>
            <a:ext cx="0" cy="164592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5349240"/>
            <a:ext cx="164592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2702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45920" y="42702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194560" y="42702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481888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645920" y="536752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o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291840" y="4434840"/>
            <a:ext cx="3017520" cy="804672"/>
          </a:xfrm>
          <a:prstGeom prst="roundRect">
            <a:avLst>
              <a:gd name="adj" fmla="val 3409"/>
            </a:avLst>
          </a:prstGeom>
          <a:solidFill>
            <a:srgbClr val="F6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4553712"/>
            <a:ext cx="27249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430"/>
                </a:solidFill>
              </a:rPr>
              <a:t>Consulta: vencedor(Jogador).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F2430"/>
                </a:solidFill>
              </a:rPr>
              <a:t>Resposta: Jogador = x.</a:t>
            </a:r>
            <a:endParaRPr lang="en-US" sz="1430" dirty="0"/>
          </a:p>
        </p:txBody>
      </p:sp>
      <p:sp>
        <p:nvSpPr>
          <p:cNvPr id="27" name="Shape 25"/>
          <p:cNvSpPr/>
          <p:nvPr/>
        </p:nvSpPr>
        <p:spPr>
          <a:xfrm>
            <a:off x="6812280" y="4434840"/>
            <a:ext cx="3840480" cy="804672"/>
          </a:xfrm>
          <a:prstGeom prst="roundRect">
            <a:avLst>
              <a:gd name="adj" fmla="val 3409"/>
            </a:avLst>
          </a:prstGeom>
          <a:solidFill>
            <a:srgbClr val="F6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58584" y="4553712"/>
            <a:ext cx="3547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430"/>
                </a:solidFill>
              </a:rPr>
              <a:t>Formas de vitória: 3 linhas, 3 colunas e 2 diagonais.</a:t>
            </a:r>
            <a:endParaRPr lang="en-US" sz="1430" dirty="0"/>
          </a:p>
        </p:txBody>
      </p:sp>
      <p:sp>
        <p:nvSpPr>
          <p:cNvPr id="29" name="Text 27"/>
          <p:cNvSpPr/>
          <p:nvPr/>
        </p:nvSpPr>
        <p:spPr>
          <a:xfrm>
            <a:off x="50292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Jogo da Velha em Prolog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</a:rPr>
              <a:t>Como a CPU decide a jogada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05840" cy="50292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</a:rPr>
              <a:t>A CPU usa regras de prioridade, não escolhas aleatórias simples.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166360" cy="2514600"/>
          </a:xfrm>
          <a:prstGeom prst="roundRect">
            <a:avLst>
              <a:gd name="adj" fmla="val 109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36192"/>
            <a:ext cx="4873752" cy="2276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escolher_jogada_cpu(L, C) :-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pode_vencer(o, L, C), !.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escolher_jogada_cpu(L, C) :-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pode_vencer(x, L, C), !.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8132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417320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1. Se a CPU puder vencer, ela joga para vencer.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920240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2. Se X estiver quase vencendo, a CPU bloqueia.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309360" y="248716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423160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3. Depois tenta centro, canto e qualquer casa vazia.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309360" y="299008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926080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</a:rPr>
              <a:t>O corte (!) impede que o Prolog continue procurando outra jogada depois de escolher a melhor.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434840"/>
            <a:ext cx="5120640" cy="658368"/>
          </a:xfrm>
          <a:prstGeom prst="roundRect">
            <a:avLst>
              <a:gd name="adj" fmla="val 4167"/>
            </a:avLst>
          </a:prstGeom>
          <a:solidFill>
            <a:srgbClr val="F6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4553712"/>
            <a:ext cx="48280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430"/>
                </a:solidFill>
              </a:rPr>
              <a:t>pode_vencer/3 analisa casas vazias que completam linha, coluna ou diagonal.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7818120" y="3886200"/>
            <a:ext cx="1417320" cy="1417320"/>
          </a:xfrm>
          <a:prstGeom prst="rect">
            <a:avLst/>
          </a:prstGeom>
          <a:solidFill>
            <a:srgbClr val="FFFFFF"/>
          </a:solidFill>
          <a:ln w="17780">
            <a:solidFill>
              <a:srgbClr val="5B2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0560" y="3886200"/>
            <a:ext cx="0" cy="141732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4358640"/>
            <a:ext cx="141732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63000" y="3886200"/>
            <a:ext cx="0" cy="141732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4831080"/>
            <a:ext cx="1417320" cy="0"/>
          </a:xfrm>
          <a:prstGeom prst="line">
            <a:avLst/>
          </a:prstGeom>
          <a:noFill/>
          <a:ln w="17780">
            <a:solidFill>
              <a:srgbClr val="1F2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3904488"/>
            <a:ext cx="4724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90560" y="3904488"/>
            <a:ext cx="4724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x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818120" y="4376928"/>
            <a:ext cx="4724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o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55080" y="5806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</a:rPr>
              <a:t>Nesse exemplo, se X ameaça completar a linha, a CPU joga para bloquear.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0292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Jogo da Velha em Prolog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</a:rPr>
              <a:t>Inferência, unificação e backtracking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05840" cy="50292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</a:rPr>
              <a:t>Os resultados surgem das regras aplicadas aos fatos.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394960" cy="3017520"/>
          </a:xfrm>
          <a:prstGeom prst="roundRect">
            <a:avLst>
              <a:gd name="adj" fmla="val 90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536192"/>
            <a:ext cx="510235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?- vencedor(Jogador).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= x.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?- jogada_valida(Linha, Coluna).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Linha = 1, Coluna = 3 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Linha = 2, Coluna = 2 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92240" y="166420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600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430"/>
                </a:solidFill>
              </a:rPr>
              <a:t>Inferência: o Prolog deduz respostas a partir de fatos e regras.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6492240" y="225856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219456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430"/>
                </a:solidFill>
              </a:rPr>
              <a:t>Unificação: Jogador recebe x ou o quando a regra é satisfeita.</a:t>
            </a:r>
            <a:endParaRPr lang="en-US" sz="1480" dirty="0"/>
          </a:p>
        </p:txBody>
      </p:sp>
      <p:sp>
        <p:nvSpPr>
          <p:cNvPr id="11" name="Shape 9"/>
          <p:cNvSpPr/>
          <p:nvPr/>
        </p:nvSpPr>
        <p:spPr>
          <a:xfrm>
            <a:off x="6492240" y="285292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78892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430"/>
                </a:solidFill>
              </a:rPr>
              <a:t>Backtracking: ao pressionar ;, o Prolog busca outras soluções possíveis.</a:t>
            </a:r>
            <a:endParaRPr lang="en-US" sz="1480" dirty="0"/>
          </a:p>
        </p:txBody>
      </p:sp>
      <p:sp>
        <p:nvSpPr>
          <p:cNvPr id="13" name="Shape 11"/>
          <p:cNvSpPr/>
          <p:nvPr/>
        </p:nvSpPr>
        <p:spPr>
          <a:xfrm>
            <a:off x="6492240" y="344728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338328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430"/>
                </a:solidFill>
              </a:rPr>
              <a:t>Variáveis como Linha, Coluna e Jogador tornam as regras gerais.</a:t>
            </a:r>
            <a:endParaRPr lang="en-US" sz="1480" dirty="0"/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10241280" cy="685800"/>
          </a:xfrm>
          <a:prstGeom prst="roundRect">
            <a:avLst>
              <a:gd name="adj" fmla="val 4000"/>
            </a:avLst>
          </a:prstGeom>
          <a:solidFill>
            <a:srgbClr val="F6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5010912"/>
            <a:ext cx="994867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Paradigma declarativo: o código declara o que é verdadeiro; o Prolog decide como encontrar a resposta.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0292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Jogo da Velha em Prolog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</a:rPr>
              <a:t>Execução e conclusão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05840" cy="50292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</a:rPr>
              <a:t>O projeto é jogável no SWI-Prolog e atende aos critérios do trabalho.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577840" cy="1691640"/>
          </a:xfrm>
          <a:prstGeom prst="roundRect">
            <a:avLst>
              <a:gd name="adj" fmla="val 162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36192"/>
            <a:ext cx="5285232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?- consult(['c:/Users/User/Downloads/jogo_da_velha.pl']).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?- iniciar.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20840" y="148132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2008" y="141732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O jogo exibe o tabuleiro e pede linha e coluna.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720840" y="198424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192024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O usuário joga como X e a CPU responde como O.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20840" y="2487168"/>
            <a:ext cx="91440" cy="91440"/>
          </a:xfrm>
          <a:prstGeom prst="ellipse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2008" y="24231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A partida termina com vitória de X, vitória da CPU ou empate.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10881360" cy="1508760"/>
          </a:xfrm>
          <a:prstGeom prst="roundRect">
            <a:avLst>
              <a:gd name="adj" fmla="val 1818"/>
            </a:avLst>
          </a:prstGeom>
          <a:solidFill>
            <a:srgbClr val="F6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EFF"/>
                </a:solidFill>
              </a:rPr>
              <a:t>Conclusão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3159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</a:rPr>
              <a:t>O projeto demonstra programação lógica porque as jogadas são fatos, as condições de vitória são regras, e o Prolog usa inferência, unificação e backtracking para determinar o estado da partida.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64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Jogo da Velha em Prolog |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Jogo da Velha em Prolog - Apresentação Completa</dc:title>
  <dc:subject>Jogo da Velha em Prolog</dc:subject>
  <dc:creator>OpenAI</dc:creator>
  <cp:lastModifiedBy>OpenAI</cp:lastModifiedBy>
  <cp:revision>1</cp:revision>
  <dcterms:created xsi:type="dcterms:W3CDTF">2026-05-07T12:10:37Z</dcterms:created>
  <dcterms:modified xsi:type="dcterms:W3CDTF">2026-05-07T12:10:37Z</dcterms:modified>
</cp:coreProperties>
</file>